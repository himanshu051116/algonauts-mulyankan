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E6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65" y="29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34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2791062" y="2761488"/>
            <a:ext cx="5339240" cy="5201412"/>
          </a:xfrm>
          <a:prstGeom prst="roundRect">
            <a:avLst/>
          </a:prstGeom>
          <a:solidFill>
            <a:srgbClr val="050D08"/>
          </a:solidFill>
          <a:ln w="1524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754044"/>
            <a:ext cx="4572000" cy="101566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dirty="0">
                <a:solidFill>
                  <a:srgbClr val="A6FF00"/>
                </a:solidFill>
                <a:latin typeface="Aptos Display"/>
              </a:rPr>
              <a:t>MULYANKAN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8" y="1831841"/>
            <a:ext cx="14432281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>
                <a:solidFill>
                  <a:srgbClr val="F3F9EF"/>
                </a:solidFill>
                <a:latin typeface="Aptos Display"/>
              </a:rPr>
              <a:t>EVIDENCE-GATED AI</a:t>
            </a:r>
            <a:r>
              <a:rPr lang="en-US" sz="3200" b="1" dirty="0">
                <a:solidFill>
                  <a:srgbClr val="F3F9EF"/>
                </a:solidFill>
                <a:latin typeface="Aptos Display"/>
              </a:rPr>
              <a:t> </a:t>
            </a:r>
            <a:r>
              <a:rPr sz="3200" b="1" dirty="0">
                <a:solidFill>
                  <a:srgbClr val="F3F9EF"/>
                </a:solidFill>
                <a:latin typeface="Aptos Display"/>
              </a:rPr>
              <a:t>PROPOSAL SCRUTINY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5454" y="2402790"/>
            <a:ext cx="7699248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BCCFB5"/>
                </a:solidFill>
                <a:latin typeface="Aptos"/>
              </a:rPr>
              <a:t>Preliminary Science &amp; Technology proposal review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4752" y="3085668"/>
            <a:ext cx="7699248" cy="3675894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1673353" y="3838524"/>
            <a:ext cx="1962187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6FF00"/>
                </a:solidFill>
                <a:latin typeface="Aptos Display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3" y="4429310"/>
            <a:ext cx="6671435" cy="138499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F3F9EF"/>
                </a:solidFill>
                <a:latin typeface="Aptos"/>
              </a:rPr>
              <a:t>Turns proposal documents into traceable evidence, rule findings and advisory reviewer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6903942"/>
            <a:ext cx="6583680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200" b="1" dirty="0">
                <a:solidFill>
                  <a:srgbClr val="75E61A"/>
                </a:solidFill>
                <a:latin typeface="Aptos"/>
              </a:rPr>
              <a:t>Domain</a:t>
            </a:r>
            <a:r>
              <a:rPr sz="3200" b="1" dirty="0">
                <a:solidFill>
                  <a:srgbClr val="BCCFB5"/>
                </a:solidFill>
                <a:latin typeface="Aptos"/>
              </a:rPr>
              <a:t>:</a:t>
            </a:r>
            <a:r>
              <a:rPr lang="en-US" sz="3200" b="1" dirty="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00" b="1" dirty="0">
                <a:solidFill>
                  <a:srgbClr val="75E61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Education &amp; AI</a:t>
            </a:r>
            <a:endParaRPr sz="3200" b="1" dirty="0">
              <a:solidFill>
                <a:srgbClr val="75E61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8" y="7297076"/>
            <a:ext cx="6583680" cy="138499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75E61A"/>
                </a:solidFill>
                <a:latin typeface="Aptos"/>
              </a:rPr>
              <a:t>Team</a:t>
            </a:r>
            <a:r>
              <a:rPr lang="en-US" sz="2800" b="1" dirty="0">
                <a:solidFill>
                  <a:srgbClr val="75E61A"/>
                </a:solidFill>
                <a:latin typeface="Aptos"/>
              </a:rPr>
              <a:t>:</a:t>
            </a:r>
            <a:r>
              <a:rPr sz="2800" b="1" dirty="0">
                <a:solidFill>
                  <a:srgbClr val="75E61A"/>
                </a:solidFill>
                <a:latin typeface="Aptos"/>
              </a:rPr>
              <a:t> </a:t>
            </a:r>
            <a:r>
              <a:rPr lang="en-US" sz="2800" b="1" dirty="0" err="1">
                <a:solidFill>
                  <a:srgbClr val="75E61A"/>
                </a:solidFill>
                <a:latin typeface="Aptos"/>
              </a:rPr>
              <a:t>Algonauts</a:t>
            </a:r>
            <a:r>
              <a:rPr sz="2800" b="1" dirty="0">
                <a:solidFill>
                  <a:srgbClr val="75E61A"/>
                </a:solidFill>
                <a:latin typeface="Aptos"/>
              </a:rPr>
              <a:t>  </a:t>
            </a:r>
            <a:endParaRPr lang="en-US" sz="2800" b="1" dirty="0">
              <a:solidFill>
                <a:srgbClr val="75E61A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75E61A"/>
                </a:solidFill>
                <a:latin typeface="Aptos"/>
              </a:rPr>
              <a:t>Presented by</a:t>
            </a:r>
            <a:r>
              <a:rPr lang="en-US" sz="2800" b="1" dirty="0">
                <a:solidFill>
                  <a:srgbClr val="75E61A"/>
                </a:solidFill>
                <a:latin typeface="Aptos"/>
              </a:rPr>
              <a:t>: </a:t>
            </a:r>
            <a:r>
              <a:rPr sz="2800" b="1" dirty="0">
                <a:solidFill>
                  <a:srgbClr val="75E61A"/>
                </a:solidFill>
                <a:latin typeface="Aptos"/>
              </a:rPr>
              <a:t>Himanshu Shukla</a:t>
            </a:r>
            <a:endParaRPr lang="en-US" sz="2800" b="1" dirty="0">
              <a:solidFill>
                <a:srgbClr val="75E61A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lang="en-IN" sz="2800" b="1" dirty="0">
                <a:solidFill>
                  <a:srgbClr val="75E61A"/>
                </a:solidFill>
                <a:latin typeface="Aptos"/>
              </a:rPr>
              <a:t>                       Ajeet, Abishek &amp; Dhruv</a:t>
            </a:r>
            <a:endParaRPr sz="2800" b="1" dirty="0">
              <a:solidFill>
                <a:srgbClr val="75E61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01952" y="9186931"/>
            <a:ext cx="4114800" cy="2616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CCFB5"/>
                </a:solidFill>
                <a:latin typeface="Aptos"/>
              </a:rPr>
              <a:t>Mulyankan 0.8.0  |  Hack Matrix  |  01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3EE661-38EE-0817-C1E8-3A3185C3E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713" y="3483560"/>
            <a:ext cx="5115938" cy="3758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56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96930"/>
            <a:ext cx="1097280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>
                <a:solidFill>
                  <a:srgbClr val="BCCFB5"/>
                </a:solidFill>
                <a:latin typeface="Aptos"/>
              </a:rPr>
              <a:t>Preliminary scrutiny is evidence-heavy, document-heavy and hard to </a:t>
            </a:r>
            <a:r>
              <a:rPr b="0" dirty="0" err="1">
                <a:solidFill>
                  <a:srgbClr val="BCCFB5"/>
                </a:solidFill>
                <a:latin typeface="Aptos"/>
              </a:rPr>
              <a:t>standardise</a:t>
            </a:r>
            <a:r>
              <a:rPr b="0" dirty="0">
                <a:solidFill>
                  <a:srgbClr val="BCCFB5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906411"/>
            <a:ext cx="164592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A6FF00"/>
                </a:solidFill>
                <a:latin typeface="Aptos Display"/>
              </a:rPr>
              <a:t>Core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600" y="2172755"/>
            <a:ext cx="8138160" cy="92333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F3F9EF"/>
                </a:solidFill>
                <a:latin typeface="Aptos Display"/>
              </a:rPr>
              <a:t>Experts should judge proposals not spend time hunting for scattered 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0301" y="3430412"/>
            <a:ext cx="3037332" cy="2481184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1797461" y="3845762"/>
            <a:ext cx="500266" cy="366784"/>
          </a:xfrm>
          <a:prstGeom prst="roundRect">
            <a:avLst/>
          </a:prstGeom>
          <a:solidFill>
            <a:srgbClr val="A6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797461" y="4000237"/>
            <a:ext cx="500266" cy="23391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30805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4892" y="4346024"/>
            <a:ext cx="2596621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A6FF00"/>
                </a:solidFill>
                <a:latin typeface="Aptos Display"/>
              </a:rPr>
              <a:t>Multiple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3181" y="4624187"/>
            <a:ext cx="256088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dirty="0">
                <a:solidFill>
                  <a:srgbClr val="F3F9EF"/>
                </a:solidFill>
                <a:latin typeface="Aptos"/>
              </a:rPr>
              <a:t>Proposal, budget, CVs, declarations and annexures use different formats.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15663" y="4535423"/>
            <a:ext cx="404978" cy="302057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5080856" y="3403460"/>
            <a:ext cx="3037332" cy="2481184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5218016" y="3818810"/>
            <a:ext cx="500266" cy="366784"/>
          </a:xfrm>
          <a:prstGeom prst="roundRect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5218016" y="3973285"/>
            <a:ext cx="500266" cy="23391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30805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45" y="4319071"/>
            <a:ext cx="2596621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5E61A"/>
                </a:solidFill>
                <a:latin typeface="Aptos Display"/>
              </a:rPr>
              <a:t>Manual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3735" y="4565297"/>
            <a:ext cx="2560888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dirty="0">
                <a:solidFill>
                  <a:srgbClr val="F3F9EF"/>
                </a:solidFill>
                <a:latin typeface="Aptos"/>
              </a:rPr>
              <a:t>Duration, budget, eligibility, methodology and outcomes must be searched repeatedly.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03297" y="4518990"/>
            <a:ext cx="404978" cy="302057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ounded Rectangle 19"/>
          <p:cNvSpPr/>
          <p:nvPr/>
        </p:nvSpPr>
        <p:spPr>
          <a:xfrm>
            <a:off x="8644336" y="3478648"/>
            <a:ext cx="3037332" cy="2481184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8781496" y="3893998"/>
            <a:ext cx="500266" cy="366784"/>
          </a:xfrm>
          <a:prstGeom prst="roundRect">
            <a:avLst/>
          </a:prstGeom>
          <a:solidFill>
            <a:srgbClr val="56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8781496" y="4048473"/>
            <a:ext cx="500266" cy="23391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30805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8926" y="4394259"/>
            <a:ext cx="2596621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56F5E4"/>
                </a:solidFill>
                <a:latin typeface="Aptos Display"/>
              </a:rPr>
              <a:t>Reviewer variation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7215" y="4672423"/>
            <a:ext cx="256088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dirty="0">
                <a:solidFill>
                  <a:srgbClr val="F3F9EF"/>
                </a:solidFill>
                <a:latin typeface="Aptos"/>
              </a:rPr>
              <a:t>Different reviewers may focus on different evidence passages.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1753790" y="4527455"/>
            <a:ext cx="404978" cy="302057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ounded Rectangle 25"/>
          <p:cNvSpPr/>
          <p:nvPr/>
        </p:nvSpPr>
        <p:spPr>
          <a:xfrm>
            <a:off x="12161522" y="3491498"/>
            <a:ext cx="3037332" cy="2481184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ounded Rectangle 26"/>
          <p:cNvSpPr/>
          <p:nvPr/>
        </p:nvSpPr>
        <p:spPr>
          <a:xfrm>
            <a:off x="12298682" y="3906848"/>
            <a:ext cx="500266" cy="366784"/>
          </a:xfrm>
          <a:prstGeom prst="roundRect">
            <a:avLst/>
          </a:prstGeom>
          <a:solidFill>
            <a:srgbClr val="FF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12298682" y="4061323"/>
            <a:ext cx="500266" cy="23391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30805"/>
                </a:solidFill>
                <a:latin typeface="Aptos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26112" y="4427070"/>
            <a:ext cx="2596621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FFA937"/>
                </a:solidFill>
                <a:latin typeface="Aptos Display"/>
              </a:rPr>
              <a:t>Weak 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0" y="4685273"/>
            <a:ext cx="256088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F3F9EF"/>
                </a:solidFill>
                <a:latin typeface="Aptos"/>
              </a:rPr>
              <a:t>Missing facts, rule warnings and score rationale are difficult to reconstruct.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51044" y="6595385"/>
            <a:ext cx="11216640" cy="1681769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2157983" y="6887538"/>
            <a:ext cx="3090807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A6FF00"/>
                </a:solidFill>
                <a:latin typeface="Aptos Display"/>
              </a:rPr>
              <a:t>Desired institutional capability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1877" y="7272692"/>
            <a:ext cx="10618420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F3F9EF"/>
                </a:solidFill>
                <a:latin typeface="Aptos"/>
              </a:rPr>
              <a:t>Controlled intake  →  evidence-linked extraction  →  explicit rule states  →  reviewer-verifiable advisory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WHY THIS PROBLEM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127653"/>
            <a:ext cx="10972800" cy="65248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BCCFB5"/>
                </a:solidFill>
                <a:latin typeface="Aptos"/>
              </a:rPr>
              <a:t>The current approach turns proposal review into repeated evidence collection instead of focused 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216170"/>
            <a:ext cx="4754880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CCFB5"/>
                </a:solidFill>
                <a:latin typeface="Aptos"/>
              </a:rPr>
              <a:t>Mulyankan 0.8.0  |  Hack Matrix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062984"/>
            <a:ext cx="4206240" cy="1272124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2035629" y="2147243"/>
            <a:ext cx="123444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A6FF00"/>
                </a:solidFill>
                <a:latin typeface="Aptos Display"/>
              </a:rPr>
              <a:t>CAUSE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5629" y="2446875"/>
            <a:ext cx="3474720" cy="83099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F3F9EF"/>
                </a:solidFill>
                <a:latin typeface="Aptos"/>
              </a:rPr>
              <a:t>Unstructured proposal packages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566160"/>
            <a:ext cx="4206240" cy="117043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057400" y="3639200"/>
            <a:ext cx="123444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75E61A"/>
                </a:solidFill>
                <a:latin typeface="Aptos Display"/>
              </a:rPr>
              <a:t>CAUSE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023085"/>
            <a:ext cx="347472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F3F9EF"/>
                </a:solidFill>
                <a:latin typeface="Aptos"/>
              </a:rPr>
              <a:t>Manual fact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983479"/>
            <a:ext cx="4069080" cy="1378927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2057400" y="5056520"/>
            <a:ext cx="123444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6F5E4"/>
                </a:solidFill>
                <a:latin typeface="Aptos Display"/>
              </a:rPr>
              <a:t>CAUSE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5629" y="5421682"/>
            <a:ext cx="3474720" cy="83099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F3F9EF"/>
                </a:solidFill>
                <a:latin typeface="Aptos"/>
              </a:rPr>
              <a:t>No standard evidence 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46120"/>
            <a:ext cx="1389888" cy="1170432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6492240" y="3588907"/>
            <a:ext cx="1207008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A6FF00"/>
                </a:solidFill>
                <a:latin typeface="Aptos Display"/>
              </a:rPr>
              <a:t>FRICTION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45552" y="3666744"/>
            <a:ext cx="228600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ounded Rectangle 17"/>
          <p:cNvSpPr/>
          <p:nvPr/>
        </p:nvSpPr>
        <p:spPr>
          <a:xfrm>
            <a:off x="8065008" y="3246120"/>
            <a:ext cx="1389888" cy="1170432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156448" y="3465796"/>
            <a:ext cx="1207008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6F5E4"/>
                </a:solidFill>
                <a:latin typeface="Aptos Display"/>
              </a:rPr>
              <a:t>DELAY / COST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09760" y="3666744"/>
            <a:ext cx="228600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/>
          <p:cNvSpPr/>
          <p:nvPr/>
        </p:nvSpPr>
        <p:spPr>
          <a:xfrm>
            <a:off x="9729216" y="3246120"/>
            <a:ext cx="1700784" cy="1170432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9820656" y="3465796"/>
            <a:ext cx="1517904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FFA937"/>
                </a:solidFill>
                <a:latin typeface="Aptos Display"/>
              </a:rPr>
              <a:t>LOW REVIEWER CONFIDENCE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1511643" y="3686556"/>
            <a:ext cx="228600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ounded Rectangle 23"/>
          <p:cNvSpPr/>
          <p:nvPr/>
        </p:nvSpPr>
        <p:spPr>
          <a:xfrm>
            <a:off x="11837126" y="3246120"/>
            <a:ext cx="2369602" cy="1170432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FF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11686467" y="3639200"/>
            <a:ext cx="2706624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FF5E5E"/>
                </a:solidFill>
                <a:latin typeface="Aptos Display"/>
              </a:rPr>
              <a:t>POOR AUDITABILITY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5669279"/>
            <a:ext cx="5897880" cy="1897381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720840" y="5813798"/>
            <a:ext cx="19202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A6FF00"/>
                </a:solidFill>
                <a:latin typeface="Aptos Display"/>
              </a:rPr>
              <a:t>CORE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206" y="6162717"/>
            <a:ext cx="5074920" cy="120032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F3F9EF"/>
                </a:solidFill>
                <a:latin typeface="Aptos"/>
              </a:rPr>
              <a:t>Important proposal facts are not captured, checked and cited in one controlled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020" y="7974334"/>
            <a:ext cx="11719560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dirty="0">
                <a:solidFill>
                  <a:srgbClr val="A6FF00"/>
                </a:solidFill>
                <a:latin typeface="Aptos Display"/>
              </a:rPr>
              <a:t>Current method → friction → delay / risk → inconsistent preliminary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BCCFB5"/>
                </a:solidFill>
                <a:latin typeface="Aptos"/>
              </a:rPr>
              <a:t>Introducing Mulyankan: an evidence-gated, human-in-the-loop scrutiny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874519"/>
            <a:ext cx="103327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3F9EF"/>
                </a:solidFill>
                <a:latin typeface="Aptos"/>
              </a:rPr>
              <a:t>Mulyankan enables reviewers to verify evidence quickly by converting proposal packages into structured fields, rule findings, cited evidence and advisory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3017520"/>
            <a:ext cx="160020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3200400"/>
            <a:ext cx="1417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6FF00"/>
                </a:solidFill>
                <a:latin typeface="Aptos Display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547872"/>
            <a:ext cx="1417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Submits proposal package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39" y="3602736"/>
            <a:ext cx="256032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64991" y="3017520"/>
            <a:ext cx="160020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3200400"/>
            <a:ext cx="1417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75E61A"/>
                </a:solidFill>
                <a:latin typeface="Aptos Display"/>
              </a:rPr>
              <a:t>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547872"/>
            <a:ext cx="1417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Manifest + package hash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10912" y="3602736"/>
            <a:ext cx="256032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12664" y="3017520"/>
            <a:ext cx="169164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4103" y="320040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6F5E4"/>
                </a:solidFill>
                <a:latin typeface="Aptos Display"/>
              </a:rP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3" y="3547872"/>
            <a:ext cx="1508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Canonical fields + source refs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50024" y="3602736"/>
            <a:ext cx="256032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51775" y="3017520"/>
            <a:ext cx="169164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E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215" y="320040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E05A"/>
                </a:solidFill>
                <a:latin typeface="Aptos Display"/>
              </a:rPr>
              <a:t>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5" y="3547872"/>
            <a:ext cx="1508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Pass / fail / warning / insufficient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89136" y="3602736"/>
            <a:ext cx="256032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90888" y="3017520"/>
            <a:ext cx="169164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2328" y="320040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6F5E4"/>
                </a:solidFill>
                <a:latin typeface="Aptos Display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547872"/>
            <a:ext cx="1508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Approved docs + sections only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1128248" y="3602736"/>
            <a:ext cx="256032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430000" y="3017520"/>
            <a:ext cx="169164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521440" y="320040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A937"/>
                </a:solidFill>
                <a:latin typeface="Aptos Display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3547872"/>
            <a:ext cx="1508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Advisory result or withheld score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3167360" y="3602736"/>
            <a:ext cx="256032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3469112" y="3017520"/>
            <a:ext cx="1600200" cy="1444752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560552" y="3200400"/>
            <a:ext cx="1417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6FF00"/>
                </a:solidFill>
                <a:latin typeface="Aptos Display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60552" y="3547872"/>
            <a:ext cx="1417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40" b="0">
                <a:solidFill>
                  <a:srgbClr val="F3F9EF"/>
                </a:solidFill>
                <a:latin typeface="Aptos"/>
              </a:rPr>
              <a:t>Human authority decides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669280"/>
            <a:ext cx="3246120" cy="1417320"/>
          </a:xfrm>
          <a:prstGeom prst="roundRect">
            <a:avLst/>
          </a:prstGeom>
          <a:solidFill>
            <a:srgbClr val="08130A"/>
          </a:solidFill>
          <a:ln w="1524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65960" y="5806440"/>
            <a:ext cx="438912" cy="310896"/>
          </a:xfrm>
          <a:prstGeom prst="roundRect">
            <a:avLst/>
          </a:prstGeom>
          <a:solidFill>
            <a:srgbClr val="A6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65960" y="5815584"/>
            <a:ext cx="43891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30805"/>
                </a:solidFill>
                <a:latin typeface="Aptos Display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96312" y="5779008"/>
            <a:ext cx="24231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A6FF00"/>
                </a:solidFill>
                <a:latin typeface="Aptos Display"/>
              </a:rPr>
              <a:t>Controlled 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3392" y="6272784"/>
            <a:ext cx="2916936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F3F9EF"/>
                </a:solidFill>
                <a:latin typeface="Aptos"/>
              </a:rPr>
              <a:t>File roles, hashes and confirmed submission prevent silent document drift.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5669280"/>
            <a:ext cx="3246120" cy="1417320"/>
          </a:xfrm>
          <a:prstGeom prst="roundRect">
            <a:avLst/>
          </a:prstGeom>
          <a:solidFill>
            <a:srgbClr val="08130A"/>
          </a:solidFill>
          <a:ln w="1524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623560" y="5806440"/>
            <a:ext cx="438912" cy="310896"/>
          </a:xfrm>
          <a:prstGeom prst="roundRect">
            <a:avLst/>
          </a:prstGeom>
          <a:solidFill>
            <a:srgbClr val="56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23560" y="5815584"/>
            <a:ext cx="43891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30805"/>
                </a:solidFill>
                <a:latin typeface="Aptos Display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5779008"/>
            <a:ext cx="24231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56F5E4"/>
                </a:solidFill>
                <a:latin typeface="Aptos Display"/>
              </a:rPr>
              <a:t>Evidence contracts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0992" y="6272784"/>
            <a:ext cx="2916936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F3F9EF"/>
                </a:solidFill>
                <a:latin typeface="Aptos"/>
              </a:rPr>
              <a:t>Each criterion uses only permitted documents and sections.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69280"/>
            <a:ext cx="3246120" cy="1417320"/>
          </a:xfrm>
          <a:prstGeom prst="roundRect">
            <a:avLst/>
          </a:prstGeom>
          <a:solidFill>
            <a:srgbClr val="08130A"/>
          </a:solidFill>
          <a:ln w="1524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281160" y="5806440"/>
            <a:ext cx="438912" cy="310896"/>
          </a:xfrm>
          <a:prstGeom prst="roundRect">
            <a:avLst/>
          </a:prstGeom>
          <a:solidFill>
            <a:srgbClr val="FF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1160" y="5815584"/>
            <a:ext cx="438912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30805"/>
                </a:solidFill>
                <a:latin typeface="Aptos Display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1512" y="5779008"/>
            <a:ext cx="24231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FFA937"/>
                </a:solidFill>
                <a:latin typeface="Aptos Display"/>
              </a:rPr>
              <a:t>Score release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6272784"/>
            <a:ext cx="2916936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F3F9EF"/>
                </a:solidFill>
                <a:latin typeface="Aptos"/>
              </a:rPr>
              <a:t>Weak evidence leads to withheld/unsupported status, not manufactured confidence.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7818120"/>
            <a:ext cx="103327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A6FF00"/>
                </a:solidFill>
                <a:latin typeface="Aptos Display"/>
              </a:rPr>
              <a:t>Design principle: organise evidence first; score only when evidence coverage allows.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91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PROTOTYPE /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BCCFB5"/>
                </a:solidFill>
                <a:latin typeface="Aptos"/>
              </a:rPr>
              <a:t>A clear reviewer journey from proposal upload to traceable advisory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65960"/>
            <a:ext cx="5440680" cy="749808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2093976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A6FF00"/>
                </a:solidFill>
                <a:latin typeface="Aptos Display"/>
              </a:rPr>
              <a:t>01 —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075688"/>
            <a:ext cx="3520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3F9EF"/>
                </a:solidFill>
                <a:latin typeface="Aptos"/>
              </a:rPr>
              <a:t>Applicant creates a proposal version and selects the scheme.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807208"/>
            <a:ext cx="5440680" cy="749808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2935224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75E61A"/>
                </a:solidFill>
                <a:latin typeface="Aptos Display"/>
              </a:rPr>
              <a:t>02 —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916936"/>
            <a:ext cx="3520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3F9EF"/>
                </a:solidFill>
                <a:latin typeface="Aptos"/>
              </a:rPr>
              <a:t>Files are uploaded into mandatory / optional document slots.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648456"/>
            <a:ext cx="5440680" cy="749808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377647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56F5E4"/>
                </a:solidFill>
                <a:latin typeface="Aptos Display"/>
              </a:rPr>
              <a:t>03 —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758183"/>
            <a:ext cx="3520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3F9EF"/>
                </a:solidFill>
                <a:latin typeface="Aptos"/>
              </a:rPr>
              <a:t>System checks file type, size, ownership and SHA-256 hash.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489704"/>
            <a:ext cx="5440680" cy="749808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E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4617720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E05A"/>
                </a:solidFill>
                <a:latin typeface="Aptos Display"/>
              </a:rPr>
              <a:t>04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4599432"/>
            <a:ext cx="3520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dirty="0">
                <a:solidFill>
                  <a:srgbClr val="F3F9EF"/>
                </a:solidFill>
                <a:latin typeface="Aptos"/>
              </a:rPr>
              <a:t>Extractor identifies sections, tables and canonical fields.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330952"/>
            <a:ext cx="5440680" cy="749808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11680" y="5458968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A937"/>
                </a:solidFill>
                <a:latin typeface="Aptos Display"/>
              </a:rPr>
              <a:t>05 —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5440680"/>
            <a:ext cx="35204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3F9EF"/>
                </a:solidFill>
                <a:latin typeface="Aptos"/>
              </a:rPr>
              <a:t>Reviewer receives rule states, evidence citations and advisory findings.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3600" y="2322794"/>
            <a:ext cx="4553712" cy="1476102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35896" y="2459736"/>
            <a:ext cx="21945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A6FF00"/>
                </a:solidFill>
                <a:latin typeface="Aptos Display"/>
              </a:rPr>
              <a:t>Large prototype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7900" y="2757688"/>
            <a:ext cx="4069080" cy="83099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F3F9EF"/>
                </a:solidFill>
                <a:latin typeface="Aptos"/>
              </a:rPr>
              <a:t>Show real workflow states and report logic; avoid fake screenshots until UI captures are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52669" y="7392488"/>
            <a:ext cx="10332720" cy="502920"/>
          </a:xfrm>
          <a:prstGeom prst="roundRect">
            <a:avLst/>
          </a:prstGeom>
          <a:solidFill>
            <a:srgbClr val="050D08"/>
          </a:solidFill>
          <a:ln w="1397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44109" y="7386130"/>
            <a:ext cx="101498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dirty="0">
                <a:solidFill>
                  <a:srgbClr val="F3F9EF"/>
                </a:solidFill>
                <a:latin typeface="Aptos Display"/>
              </a:rPr>
              <a:t>Input → Verified package → Processing → Evidence report → Human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WHAT MAKES US DIFFERENT?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BCCFB5"/>
                </a:solidFill>
                <a:latin typeface="Aptos"/>
              </a:rPr>
              <a:t>Mulyankan is differentiated by governed evidence use and transparent abstention — not by saying “AI-powered”.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057400"/>
            <a:ext cx="10469880" cy="65836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2194560"/>
            <a:ext cx="246888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A6FF00"/>
                </a:solidFill>
                <a:latin typeface="Aptos Display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32004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BCCFB5"/>
                </a:solidFill>
                <a:latin typeface="Aptos Display"/>
              </a:rPr>
              <a:t>CURRENT / BASIC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194560"/>
            <a:ext cx="25603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A6FF00"/>
                </a:solidFill>
                <a:latin typeface="Aptos Display"/>
              </a:rPr>
              <a:t>MULYANKAN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834640"/>
            <a:ext cx="10469880" cy="758952"/>
          </a:xfrm>
          <a:prstGeom prst="roundRect">
            <a:avLst/>
          </a:prstGeom>
          <a:solidFill>
            <a:srgbClr val="08130A"/>
          </a:solidFill>
          <a:ln w="1016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2944368"/>
            <a:ext cx="23317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Evidence source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474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CCFB5"/>
                </a:solidFill>
                <a:latin typeface="Aptos"/>
              </a:rPr>
              <a:t>Reviewer manually searches across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749039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3F9EF"/>
                </a:solidFill>
                <a:latin typeface="Aptos"/>
              </a:rPr>
              <a:t>Criterion-level approved docs + sections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703320"/>
            <a:ext cx="10469880" cy="758952"/>
          </a:xfrm>
          <a:prstGeom prst="roundRect">
            <a:avLst/>
          </a:prstGeom>
          <a:solidFill>
            <a:srgbClr val="08130A"/>
          </a:solidFill>
          <a:ln w="10160">
            <a:solidFill>
              <a:srgbClr val="5FA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29968" y="3813048"/>
            <a:ext cx="23317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Rule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94759"/>
            <a:ext cx="3474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CCFB5"/>
                </a:solidFill>
                <a:latin typeface="Aptos"/>
              </a:rPr>
              <a:t>Eligibility issues can be buried in prose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94759"/>
            <a:ext cx="3749039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3F9EF"/>
                </a:solidFill>
                <a:latin typeface="Aptos"/>
              </a:rPr>
              <a:t>Explicit pass / fail / warning / insufficient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572000"/>
            <a:ext cx="10469880" cy="758952"/>
          </a:xfrm>
          <a:prstGeom prst="roundRect">
            <a:avLst/>
          </a:prstGeom>
          <a:solidFill>
            <a:srgbClr val="08130A"/>
          </a:solidFill>
          <a:ln w="1016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29968" y="4681728"/>
            <a:ext cx="23317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Weak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63440"/>
            <a:ext cx="3474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CCFB5"/>
                </a:solidFill>
                <a:latin typeface="Aptos"/>
              </a:rPr>
              <a:t>Unclear whether missing evidence affected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63440"/>
            <a:ext cx="3749039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3F9EF"/>
                </a:solidFill>
                <a:latin typeface="Aptos"/>
              </a:rPr>
              <a:t>Score withheld or marked unsupported with reason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440680"/>
            <a:ext cx="10469880" cy="758952"/>
          </a:xfrm>
          <a:prstGeom prst="roundRect">
            <a:avLst/>
          </a:prstGeom>
          <a:solidFill>
            <a:srgbClr val="08130A"/>
          </a:solidFill>
          <a:ln w="10160">
            <a:solidFill>
              <a:srgbClr val="5FA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29968" y="5550408"/>
            <a:ext cx="23317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532120"/>
            <a:ext cx="3474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CCFB5"/>
                </a:solidFill>
                <a:latin typeface="Aptos"/>
              </a:rPr>
              <a:t>Difficult to reconstruct why a warning appeared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532120"/>
            <a:ext cx="3749039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3F9EF"/>
                </a:solidFill>
                <a:latin typeface="Aptos"/>
              </a:rPr>
              <a:t>Package hash, file ID, page ref, rule-set and model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6309360"/>
            <a:ext cx="10469880" cy="758952"/>
          </a:xfrm>
          <a:prstGeom prst="roundRect">
            <a:avLst/>
          </a:prstGeom>
          <a:solidFill>
            <a:srgbClr val="08130A"/>
          </a:solidFill>
          <a:ln w="1016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29968" y="6419088"/>
            <a:ext cx="23317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Human authority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00800"/>
            <a:ext cx="3474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BCCFB5"/>
                </a:solidFill>
                <a:latin typeface="Aptos"/>
              </a:rPr>
              <a:t>Recommendation may look like a final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3749039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3F9EF"/>
                </a:solidFill>
                <a:latin typeface="Aptos"/>
              </a:rPr>
              <a:t>Advisory output separated from competent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7543800"/>
            <a:ext cx="103784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A6FF00"/>
                </a:solidFill>
                <a:latin typeface="Aptos Display"/>
              </a:rPr>
              <a:t>Most important line: Mulyankan does not ask only “What does the model think?” — it asks “What evidence was it allowed to use?”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BCCFB5"/>
                </a:solidFill>
                <a:latin typeface="Aptos"/>
              </a:rPr>
              <a:t>A professional, auditable stack connecting UI, orchestration, evidence storage and advisory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057400"/>
            <a:ext cx="10424160" cy="77724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84831" y="2203704"/>
            <a:ext cx="20116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FF00"/>
                </a:solidFill>
                <a:latin typeface="Aptos Display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176272"/>
            <a:ext cx="7406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React interface for submission, tracking, reports and reviewer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53512"/>
            <a:ext cx="10424160" cy="77724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4831" y="3099816"/>
            <a:ext cx="20116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75E61A"/>
                </a:solidFill>
                <a:latin typeface="Aptos Display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072384"/>
            <a:ext cx="7406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FastAPI for authentication, submission checks and evaluation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849624"/>
            <a:ext cx="10424160" cy="77724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E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84831" y="399592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E05A"/>
                </a:solidFill>
                <a:latin typeface="Aptos Display"/>
              </a:rP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968496"/>
            <a:ext cx="7406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Redis + ARQ worker for background extraction and evaluation 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745736"/>
            <a:ext cx="10424160" cy="77724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84831" y="48920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56F5E4"/>
                </a:solidFill>
                <a:latin typeface="Aptos Display"/>
              </a:rPr>
              <a:t>DATA /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864607"/>
            <a:ext cx="7406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PostgreSQL for structured records; MinIO for private proposal 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641848"/>
            <a:ext cx="10424160" cy="77724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84831" y="5788152"/>
            <a:ext cx="20116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A937"/>
                </a:solidFill>
                <a:latin typeface="Aptos Display"/>
              </a:rPr>
              <a:t>AI /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760720"/>
            <a:ext cx="7406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3F9EF"/>
                </a:solidFill>
                <a:latin typeface="Aptos"/>
              </a:rPr>
              <a:t>Model registry + artifact hash checks before advisory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6931152"/>
            <a:ext cx="1536192" cy="84124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1801368" y="7027052"/>
            <a:ext cx="1408176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A6FF00"/>
                </a:solidFill>
                <a:latin typeface="Aptos Display"/>
              </a:rPr>
              <a:t>Applicant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1368" y="7335048"/>
            <a:ext cx="14081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CCFB5"/>
                </a:solidFill>
                <a:latin typeface="Aptos"/>
              </a:rPr>
              <a:t>submits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28415" y="7251192"/>
            <a:ext cx="256032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24"/>
          <p:cNvSpPr/>
          <p:nvPr/>
        </p:nvSpPr>
        <p:spPr>
          <a:xfrm>
            <a:off x="3547872" y="6931152"/>
            <a:ext cx="1536192" cy="84124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3611879" y="7027052"/>
            <a:ext cx="1408176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5E61A"/>
                </a:solidFill>
                <a:latin typeface="Aptos Display"/>
              </a:rPr>
              <a:t>React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79" y="7335048"/>
            <a:ext cx="14081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CCFB5"/>
                </a:solidFill>
                <a:latin typeface="Aptos"/>
              </a:rPr>
              <a:t>captures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38928" y="7251192"/>
            <a:ext cx="256032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28"/>
          <p:cNvSpPr/>
          <p:nvPr/>
        </p:nvSpPr>
        <p:spPr>
          <a:xfrm>
            <a:off x="5358383" y="6931152"/>
            <a:ext cx="1536192" cy="84124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5422392" y="7027052"/>
            <a:ext cx="1408176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6F5E4"/>
                </a:solidFill>
                <a:latin typeface="Aptos Display"/>
              </a:rPr>
              <a:t>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2392" y="7335048"/>
            <a:ext cx="14081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CCFB5"/>
                </a:solidFill>
                <a:latin typeface="Aptos"/>
              </a:rPr>
              <a:t>orchestrates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49440" y="7251192"/>
            <a:ext cx="256032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ounded Rectangle 32"/>
          <p:cNvSpPr/>
          <p:nvPr/>
        </p:nvSpPr>
        <p:spPr>
          <a:xfrm>
            <a:off x="7168896" y="6931152"/>
            <a:ext cx="1536192" cy="84124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FFE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7232904" y="7027052"/>
            <a:ext cx="1408176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E05A"/>
                </a:solidFill>
                <a:latin typeface="Aptos Display"/>
              </a:rPr>
              <a:t>Worker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4" y="7335048"/>
            <a:ext cx="14081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CCFB5"/>
                </a:solidFill>
                <a:latin typeface="Aptos"/>
              </a:rPr>
              <a:t>extracts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759952" y="7251192"/>
            <a:ext cx="256032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ounded Rectangle 36"/>
          <p:cNvSpPr/>
          <p:nvPr/>
        </p:nvSpPr>
        <p:spPr>
          <a:xfrm>
            <a:off x="8979408" y="6931152"/>
            <a:ext cx="1536192" cy="84124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9043416" y="7027052"/>
            <a:ext cx="1408176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6F5E4"/>
                </a:solidFill>
                <a:latin typeface="Aptos Display"/>
              </a:rPr>
              <a:t>DB + MinIO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416" y="7335048"/>
            <a:ext cx="14081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CCFB5"/>
                </a:solidFill>
                <a:latin typeface="Aptos"/>
              </a:rPr>
              <a:t>stores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570464" y="7251192"/>
            <a:ext cx="256032" cy="182880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ounded Rectangle 40"/>
          <p:cNvSpPr/>
          <p:nvPr/>
        </p:nvSpPr>
        <p:spPr>
          <a:xfrm>
            <a:off x="10789920" y="6931152"/>
            <a:ext cx="1536192" cy="84124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10853928" y="7027052"/>
            <a:ext cx="1408176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A937"/>
                </a:solidFill>
                <a:latin typeface="Aptos Display"/>
              </a:rPr>
              <a:t>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53928" y="7335048"/>
            <a:ext cx="14081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CCFB5"/>
                </a:solidFill>
                <a:latin typeface="Aptos"/>
              </a:rPr>
              <a:t>explains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8183879"/>
            <a:ext cx="102412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dirty="0">
                <a:solidFill>
                  <a:srgbClr val="A6FF00"/>
                </a:solidFill>
                <a:latin typeface="Aptos"/>
              </a:rPr>
              <a:t>Trust layer: file hashes, package hash, audit events, rule versions, evidence-contract versions and model identity.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A6FF00"/>
                </a:solidFill>
                <a:latin typeface="Aptos Display"/>
              </a:rPr>
              <a:t>FEASIBILITY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dirty="0">
                <a:solidFill>
                  <a:srgbClr val="BCCFB5"/>
                </a:solidFill>
                <a:latin typeface="Aptos"/>
              </a:rPr>
              <a:t>Built with available technologies and designed to improve reviewer speed, consistency and auditability.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6400" y="2057400"/>
            <a:ext cx="5181600" cy="461772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2331720"/>
            <a:ext cx="21031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dirty="0">
                <a:solidFill>
                  <a:srgbClr val="A6FF00"/>
                </a:solidFill>
                <a:latin typeface="Aptos Display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52928"/>
            <a:ext cx="4434840" cy="345934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React / </a:t>
            </a:r>
            <a:r>
              <a:rPr sz="1600" dirty="0" err="1"/>
              <a:t>FastAPI</a:t>
            </a:r>
            <a:r>
              <a:rPr sz="1600" dirty="0"/>
              <a:t> / PostgreSQL / </a:t>
            </a:r>
            <a:r>
              <a:rPr sz="1600" dirty="0" err="1"/>
              <a:t>MinIO</a:t>
            </a:r>
            <a:r>
              <a:rPr sz="1600" dirty="0"/>
              <a:t> / Redis stack is implementable and scalable.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Existing document parsing handles digital PDF, DOCX and text files; OCR can be added where approved.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Deterministic rule states are easier to audit than free-form model judgement.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Model registry and artifact hash checks support version control before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4720" y="2057400"/>
            <a:ext cx="4846320" cy="461772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331720"/>
            <a:ext cx="14630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56F5E4"/>
                </a:solidFill>
                <a:latin typeface="Aptos Display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852928"/>
            <a:ext cx="4251960" cy="309001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dirty="0"/>
              <a:t>• </a:t>
            </a:r>
            <a:r>
              <a:rPr sz="1600" dirty="0"/>
              <a:t>Faster preliminary scrutiny through </a:t>
            </a:r>
            <a:r>
              <a:rPr sz="1600" dirty="0" err="1"/>
              <a:t>standardised</a:t>
            </a:r>
            <a:r>
              <a:rPr sz="1600" dirty="0"/>
              <a:t> extraction.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Better consistency because criteria cite allowed evidence sources.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Improved audit trail for missing information, rule warnings and advisory rationale.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580">
                <a:solidFill>
                  <a:srgbClr val="F3F9EF"/>
                </a:solidFill>
                <a:latin typeface="Aptos"/>
              </a:defRPr>
            </a:pPr>
            <a:r>
              <a:rPr sz="1600" dirty="0"/>
              <a:t>• Reduced false confidence by withholding scores when evidence is insufficient.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7406640"/>
            <a:ext cx="2011680" cy="56692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2130552" y="7508784"/>
            <a:ext cx="18653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A6FF00"/>
                </a:solidFill>
                <a:latin typeface="Aptos Display"/>
              </a:rPr>
              <a:t>Prototype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96512" y="7562088"/>
            <a:ext cx="256032" cy="164592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4572000" y="7406640"/>
            <a:ext cx="2011680" cy="56692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645152" y="7508784"/>
            <a:ext cx="18653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75E61A"/>
                </a:solidFill>
                <a:latin typeface="Aptos Display"/>
              </a:rPr>
              <a:t>Reviewer MVP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11112" y="7562088"/>
            <a:ext cx="256032" cy="164592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7086600" y="7406640"/>
            <a:ext cx="2011680" cy="56692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159752" y="7508784"/>
            <a:ext cx="18653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6F5E4"/>
                </a:solidFill>
                <a:latin typeface="Aptos Display"/>
              </a:rPr>
              <a:t>Reviewer Pilot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25712" y="7562088"/>
            <a:ext cx="256032" cy="164592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9601200" y="7406640"/>
            <a:ext cx="2011680" cy="566928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9674352" y="7508784"/>
            <a:ext cx="1865376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A937"/>
                </a:solidFill>
                <a:latin typeface="Aptos Display"/>
              </a:rPr>
              <a:t>Scale to Schemes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">
            <a:extLst>
              <a:ext uri="{FF2B5EF4-FFF2-40B4-BE49-F238E27FC236}">
                <a16:creationId xmlns:a16="http://schemas.microsoft.com/office/drawing/2014/main" id="{8579E366-BA0F-7AB9-2324-C21BFBF717AB}"/>
              </a:ext>
            </a:extLst>
          </p:cNvPr>
          <p:cNvSpPr/>
          <p:nvPr/>
        </p:nvSpPr>
        <p:spPr>
          <a:xfrm>
            <a:off x="0" y="235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>
                <a:solidFill>
                  <a:srgbClr val="A6FF00"/>
                </a:solidFill>
                <a:latin typeface="Aptos Display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96930"/>
            <a:ext cx="10972800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>
                <a:solidFill>
                  <a:srgbClr val="BCCFB5"/>
                </a:solidFill>
                <a:latin typeface="Aptos"/>
              </a:rPr>
              <a:t>Clear separation between what is demonstrable now and what should be hardened before real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8995"/>
            <a:ext cx="2423160" cy="493776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36192" y="2410747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A6FF00"/>
                </a:solidFill>
                <a:latin typeface="Aptos Display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31955"/>
            <a:ext cx="201168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3F9EF"/>
                </a:solidFill>
                <a:latin typeface="Aptos"/>
              </a:rPr>
              <a:t>Hackathon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1" y="3773120"/>
            <a:ext cx="2496310" cy="139397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Controlled package upload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Extraction + rule flow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Evidence-linked report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Functional reviewer demo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522" y="4415145"/>
            <a:ext cx="237744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8514" y="2097021"/>
            <a:ext cx="2496310" cy="493776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4148" y="2383048"/>
            <a:ext cx="2119508" cy="41549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75E61A"/>
                </a:solidFill>
                <a:latin typeface="Aptos Display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816" y="2967260"/>
            <a:ext cx="2072408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3F9EF"/>
                </a:solidFill>
                <a:latin typeface="Aptos"/>
              </a:rPr>
              <a:t>Reviewer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728" y="3651501"/>
            <a:ext cx="2421847" cy="139397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Real UI screenshots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Scheme configuration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Reviewer feedback loop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Reliability improvements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56262" y="4433313"/>
            <a:ext cx="237744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77757" y="2102681"/>
            <a:ext cx="3191482" cy="493776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2347" y="2388708"/>
            <a:ext cx="2709749" cy="41549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56F5E4"/>
                </a:solidFill>
                <a:latin typeface="Aptos Display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0636" y="2972920"/>
            <a:ext cx="2649532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3F9EF"/>
                </a:solidFill>
                <a:latin typeface="Aptos"/>
              </a:rPr>
              <a:t>Reviewer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3788" y="3657161"/>
            <a:ext cx="2468881" cy="171713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Historical/demo proposal cases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Domain-expert review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Policy-owner feedback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Security + data handling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1008726" y="4279824"/>
            <a:ext cx="237744" cy="201168"/>
          </a:xfrm>
          <a:prstGeom prst="rightArrow">
            <a:avLst/>
          </a:prstGeom>
          <a:solidFill>
            <a:srgbClr val="75E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374486" y="2103552"/>
            <a:ext cx="2860766" cy="493776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39078" y="2405304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A937"/>
                </a:solidFill>
                <a:latin typeface="Aptos Display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366" y="2926512"/>
            <a:ext cx="201168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3F9EF"/>
                </a:solidFill>
                <a:latin typeface="Aptos"/>
              </a:rPr>
              <a:t>Institutional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30518" y="3658032"/>
            <a:ext cx="2423160" cy="139397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More schemes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More document roles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Analytics dashboard</a:t>
            </a:r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F3F9EF"/>
                </a:solidFill>
                <a:latin typeface="Aptos"/>
              </a:defRPr>
            </a:pPr>
            <a:r>
              <a:rPr dirty="0"/>
              <a:t>• Deployment +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7543800"/>
            <a:ext cx="10332720" cy="640080"/>
          </a:xfrm>
          <a:prstGeom prst="roundRect">
            <a:avLst/>
          </a:prstGeom>
          <a:solidFill>
            <a:srgbClr val="0B1A0E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8840" y="7680960"/>
            <a:ext cx="97840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50" b="1">
                <a:solidFill>
                  <a:srgbClr val="A6FF00"/>
                </a:solidFill>
                <a:latin typeface="Aptos Display"/>
              </a:rPr>
              <a:t>Critical point: show built workflow honestly; label future hardening clearly.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0240" y="713232"/>
            <a:ext cx="117957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A6FF00"/>
                </a:solidFill>
                <a:latin typeface="Aptos Display"/>
              </a:rPr>
              <a:t>TEAM +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61872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BCCFB5"/>
                </a:solidFill>
                <a:latin typeface="Aptos"/>
              </a:rPr>
              <a:t>Why this team can execute the solution and what support is needed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9189720"/>
            <a:ext cx="47548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CCFB5"/>
                </a:solidFill>
                <a:latin typeface="Aptos"/>
              </a:rPr>
              <a:t>Mulyankan 0.8.0  |  Hack Matrix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148840"/>
            <a:ext cx="4983480" cy="201168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2432304"/>
            <a:ext cx="30175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A6FF00"/>
                </a:solidFill>
                <a:latin typeface="Aptos Display"/>
              </a:rPr>
              <a:t>WHY WE CAN BUILD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907792"/>
            <a:ext cx="443484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3F9EF"/>
                </a:solidFill>
                <a:latin typeface="Aptos"/>
              </a:rPr>
              <a:t>The team combines software engineering, AI/ML thinking and workflow design to convert complex proposal packages into auditable reviewer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148840"/>
            <a:ext cx="4892040" cy="201168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243230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6F5E4"/>
                </a:solidFill>
                <a:latin typeface="Aptos Display"/>
              </a:rPr>
              <a:t>NEXT STEP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907792"/>
            <a:ext cx="434340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3F9EF"/>
                </a:solidFill>
                <a:latin typeface="Aptos"/>
              </a:rPr>
              <a:t>Review the prototype workflow, provide scheme-rule feedback, and help define a controlled reviewer-facing MVP.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983480"/>
            <a:ext cx="2331720" cy="118872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A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519379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A6FF00"/>
                </a:solidFill>
                <a:latin typeface="Aptos Display"/>
              </a:rPr>
              <a:t>AI-assisted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532120"/>
            <a:ext cx="2057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3F9EF"/>
                </a:solidFill>
                <a:latin typeface="Aptos"/>
              </a:rPr>
              <a:t>Canonical fields + uncertainty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983480"/>
            <a:ext cx="2331720" cy="118872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75E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519379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75E61A"/>
                </a:solidFill>
                <a:latin typeface="Aptos Display"/>
              </a:rPr>
              <a:t>Governed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532120"/>
            <a:ext cx="2057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3F9EF"/>
                </a:solidFill>
                <a:latin typeface="Aptos"/>
              </a:rPr>
              <a:t>Pass / fail / warning / insufficient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983480"/>
            <a:ext cx="2331720" cy="118872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56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519379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56F5E4"/>
                </a:solidFill>
                <a:latin typeface="Aptos Display"/>
              </a:rPr>
              <a:t>Evidence-first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532120"/>
            <a:ext cx="2057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3F9EF"/>
                </a:solidFill>
                <a:latin typeface="Aptos"/>
              </a:rPr>
              <a:t>Cited rationale for reviewers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4983480"/>
            <a:ext cx="2331720" cy="1188720"/>
          </a:xfrm>
          <a:prstGeom prst="roundRect">
            <a:avLst/>
          </a:prstGeom>
          <a:solidFill>
            <a:srgbClr val="08130A"/>
          </a:solidFill>
          <a:ln w="19050">
            <a:solidFill>
              <a:srgbClr val="FF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519379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A937"/>
                </a:solidFill>
                <a:latin typeface="Aptos Display"/>
              </a:rPr>
              <a:t>Human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5532120"/>
            <a:ext cx="2057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3F9EF"/>
                </a:solidFill>
                <a:latin typeface="Aptos"/>
              </a:rPr>
              <a:t>Decision remains institutional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6949440"/>
            <a:ext cx="103327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A6FF00"/>
                </a:solidFill>
                <a:latin typeface="Aptos Display"/>
              </a:rPr>
              <a:t>Outcome sought: a clear, professional path from working prototype to safe institutional decision-support readiness.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78181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F3F9EF"/>
                </a:solidFill>
                <a:latin typeface="Aptos Display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84582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0">
                <a:solidFill>
                  <a:srgbClr val="BCCFB5"/>
                </a:solidFill>
                <a:latin typeface="Aptos"/>
              </a:rPr>
              <a:t>Mulyankan 0.8.0  |  Evidence-gated AI proposal scrutiny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1149</Words>
  <Application>Microsoft Office PowerPoint</Application>
  <PresentationFormat>Custom</PresentationFormat>
  <Paragraphs>200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Display</vt:lpstr>
      <vt:lpstr>Aptos</vt:lpstr>
      <vt:lpstr>Calibri</vt:lpstr>
      <vt:lpstr>Arial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MATRIX</dc:title>
  <dc:creator>LENOVO</dc:creator>
  <cp:lastModifiedBy>Himanshu Shukla</cp:lastModifiedBy>
  <cp:revision>3</cp:revision>
  <dcterms:created xsi:type="dcterms:W3CDTF">2006-08-16T00:00:00Z</dcterms:created>
  <dcterms:modified xsi:type="dcterms:W3CDTF">2026-08-10T02:15:13Z</dcterms:modified>
  <dc:identifier>DAHRvWOOywY</dc:identifier>
</cp:coreProperties>
</file>